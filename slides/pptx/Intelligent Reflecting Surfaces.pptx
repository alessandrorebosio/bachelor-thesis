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bold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ato Light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  <p:embeddedFont>
      <p:font typeface="Poppins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AE8A49-A27D-455F-9860-A5BE737BE847}">
  <a:tblStyle styleId="{95AE8A49-A27D-455F-9860-A5BE737BE8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Ligh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LatoLight-italic.fntdata"/><Relationship Id="rId27" Type="http://schemas.openxmlformats.org/officeDocument/2006/relationships/font" Target="fonts/Lato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PoppinsExtra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Extra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2860e4968_28_18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2860e4968_28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2860e4968_22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2860e4968_22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860e4968_66_0)">
  <p:cSld name="Generated (g3e2860e4968_66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0" y="1714500"/>
            <a:ext cx="12192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Alma Mater Studiorum - Università di Bologna</a:t>
            </a:r>
            <a:endParaRPr b="1" sz="14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0" y="2047875"/>
            <a:ext cx="12192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Dipartimento di Informatica - Scienza e Ingegneria</a:t>
            </a:r>
            <a:endParaRPr b="0" sz="13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857250" y="2667000"/>
            <a:ext cx="10477500" cy="76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995">
                <a:solidFill>
                  <a:srgbClr val="BB2E2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Intelligent Reflecting Surfaces</a:t>
            </a:r>
            <a:endParaRPr b="0" sz="4995">
              <a:solidFill>
                <a:srgbClr val="BB2E29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5715000" y="3905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57250" y="4095750"/>
            <a:ext cx="104775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4155"/>
                </a:solidFill>
                <a:latin typeface="Lato Light"/>
                <a:ea typeface="Lato Light"/>
                <a:cs typeface="Lato Light"/>
                <a:sym typeface="Lato Light"/>
              </a:rPr>
              <a:t>Progettazione, modellazione e ottimizzazione</a:t>
            </a:r>
            <a:endParaRPr b="0" sz="2200">
              <a:solidFill>
                <a:srgbClr val="33415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1333500" y="4953000"/>
            <a:ext cx="9525000" cy="10785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905000" y="5238750"/>
            <a:ext cx="381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Relatore</a:t>
            </a:r>
            <a:endParaRPr b="1" sz="11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Chiar.mo Prof. Andrea Piroddi</a:t>
            </a:r>
            <a:endParaRPr b="1" sz="16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477000" y="5238750"/>
            <a:ext cx="381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Presentata da</a:t>
            </a:r>
            <a:endParaRPr b="1" sz="11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Alessandro Rebosio</a:t>
            </a:r>
            <a:endParaRPr b="1" sz="16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14" title="logo_unib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9438" y="180688"/>
            <a:ext cx="1353124" cy="13531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Sessione I - A.A. 2025/2026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Contesto e Motivazione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5"/>
          <p:cNvGrpSpPr/>
          <p:nvPr/>
        </p:nvGrpSpPr>
        <p:grpSpPr>
          <a:xfrm>
            <a:off x="571500" y="1714500"/>
            <a:ext cx="11049000" cy="4000500"/>
            <a:chOff x="571500" y="1714500"/>
            <a:chExt cx="11049000" cy="4000500"/>
          </a:xfrm>
        </p:grpSpPr>
        <p:sp>
          <p:nvSpPr>
            <p:cNvPr id="105" name="Google Shape;105;p15"/>
            <p:cNvSpPr/>
            <p:nvPr/>
          </p:nvSpPr>
          <p:spPr>
            <a:xfrm>
              <a:off x="571500" y="1714500"/>
              <a:ext cx="3429000" cy="19050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762000" y="1905000"/>
              <a:ext cx="4087800" cy="15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BB2E2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b="0" sz="2800">
                <a:solidFill>
                  <a:srgbClr val="BB2E2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Traffico Dati</a:t>
              </a:r>
              <a:endParaRPr b="0" sz="1500">
                <a:solidFill>
                  <a:srgbClr val="BB2E2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Crescita esponenziale guidata dal 5G+.</a:t>
              </a:r>
              <a:endParaRPr b="0" sz="1200">
                <a:solidFill>
                  <a:srgbClr val="BB2E2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191000" y="1714500"/>
              <a:ext cx="3429000" cy="19050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4381500" y="190500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BB2E2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router</a:t>
              </a:r>
              <a:endParaRPr sz="2800">
                <a:solidFill>
                  <a:srgbClr val="BB2E2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Limiti Indoor</a:t>
              </a:r>
              <a:endParaRPr b="1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mmWave vulnerabili ad ostacoli fisici.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571500" y="3810000"/>
              <a:ext cx="3429000" cy="19050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762000" y="400050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BB2E2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2800">
                <a:solidFill>
                  <a:srgbClr val="BB2E2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Massive MIMO</a:t>
              </a:r>
              <a:endParaRPr b="1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Costi e consumi energetici elevati.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4191000" y="3810000"/>
              <a:ext cx="7429500" cy="1905000"/>
            </a:xfrm>
            <a:prstGeom prst="roundRect">
              <a:avLst>
                <a:gd fmla="val 6000" name="adj"/>
              </a:avLst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4381500" y="4000500"/>
              <a:ext cx="704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Nuovo Paradigma</a:t>
              </a:r>
              <a:endParaRPr b="1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Controllare attivamente l'ambiente di propagazione del segnale.</a:t>
              </a:r>
              <a:endParaRPr sz="14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13" name="Google Shape;113;p15" title="connessione-internet-disegno-2119545868.jpg"/>
            <p:cNvPicPr preferRelativeResize="0"/>
            <p:nvPr/>
          </p:nvPicPr>
          <p:blipFill rotWithShape="1">
            <a:blip r:embed="rId3">
              <a:alphaModFix/>
            </a:blip>
            <a:srcRect b="3219" l="0" r="0" t="3219"/>
            <a:stretch/>
          </p:blipFill>
          <p:spPr>
            <a:xfrm>
              <a:off x="7810500" y="1714500"/>
              <a:ext cx="38100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</p:grpSp>
      <p:sp>
        <p:nvSpPr>
          <p:cNvPr id="114" name="Google Shape;114;p15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81262"/>
            <a:ext cx="34924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48126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481262"/>
            <a:ext cx="349240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94228" y="3509962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Metasuperfici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4033837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Superfici planari composte da un elevato numero di piccoli elementi riflettenti passivi.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572375" y="35099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Riconfigurabilità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4925" y="40338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Ogni elemento può introdurre uno sfasamento controllato ($\theta$) al segnale incidente.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50679" y="3509962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Efficienza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225" y="4033837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Dispositivi passivi a basso costo e basso consumo (niente catene RF attive).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0525" y="28241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8241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5550" y="28241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6477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Che cosa sono le IRS?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647700"/>
            <a:ext cx="57150" cy="600075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b="0"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647700"/>
            <a:ext cx="7620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Principio di Funzionamento</a:t>
            </a:r>
            <a:endParaRPr b="0" sz="3600">
              <a:solidFill>
                <a:srgbClr val="0033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62000" y="647700"/>
            <a:ext cx="57300" cy="5715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 IRS manipolano il fronte d'onda per creare un collegamento virtuale </a:t>
            </a:r>
            <a:r>
              <a:rPr b="1" lang="en-US" sz="18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Line-of-Sight (LoS)</a:t>
            </a:r>
            <a:r>
              <a:rPr b="0"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3" name="Google Shape;143;p17"/>
          <p:cNvGrpSpPr/>
          <p:nvPr/>
        </p:nvGrpSpPr>
        <p:grpSpPr>
          <a:xfrm>
            <a:off x="4762500" y="2095500"/>
            <a:ext cx="6667500" cy="3571200"/>
            <a:chOff x="4762500" y="2095500"/>
            <a:chExt cx="6667500" cy="3571200"/>
          </a:xfrm>
        </p:grpSpPr>
        <p:pic>
          <p:nvPicPr>
            <p:cNvPr id="144" name="Google Shape;144;p17"/>
            <p:cNvPicPr preferRelativeResize="0"/>
            <p:nvPr/>
          </p:nvPicPr>
          <p:blipFill rotWithShape="1">
            <a:blip r:embed="rId4">
              <a:alphaModFix/>
            </a:blip>
            <a:srcRect b="12269" l="0" r="0" t="14616"/>
            <a:stretch/>
          </p:blipFill>
          <p:spPr>
            <a:xfrm>
              <a:off x="4762500" y="2256113"/>
              <a:ext cx="6667500" cy="3249900"/>
            </a:xfrm>
            <a:prstGeom prst="roundRect">
              <a:avLst>
                <a:gd fmla="val 3433" name="adj"/>
              </a:avLst>
            </a:prstGeom>
            <a:noFill/>
            <a:ln>
              <a:noFill/>
            </a:ln>
          </p:spPr>
        </p:pic>
        <p:sp>
          <p:nvSpPr>
            <p:cNvPr id="145" name="Google Shape;145;p17"/>
            <p:cNvSpPr/>
            <p:nvPr/>
          </p:nvSpPr>
          <p:spPr>
            <a:xfrm>
              <a:off x="4762500" y="2095500"/>
              <a:ext cx="6667500" cy="3571200"/>
            </a:xfrm>
            <a:prstGeom prst="roundRect">
              <a:avLst>
                <a:gd fmla="val 3433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17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b="0"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7" name="Google Shape;147;p17"/>
          <p:cNvGrpSpPr/>
          <p:nvPr/>
        </p:nvGrpSpPr>
        <p:grpSpPr>
          <a:xfrm>
            <a:off x="762000" y="2095500"/>
            <a:ext cx="3619500" cy="1047900"/>
            <a:chOff x="762000" y="2095500"/>
            <a:chExt cx="3619500" cy="1047900"/>
          </a:xfrm>
        </p:grpSpPr>
        <p:sp>
          <p:nvSpPr>
            <p:cNvPr id="148" name="Google Shape;148;p17"/>
            <p:cNvSpPr/>
            <p:nvPr/>
          </p:nvSpPr>
          <p:spPr>
            <a:xfrm>
              <a:off x="762000" y="2095500"/>
              <a:ext cx="3619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1476375" y="2095500"/>
              <a:ext cx="2762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Onda Incidente</a:t>
              </a:r>
              <a:endParaRPr b="1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Segnale proveniente dalla Base Station (BS).</a:t>
              </a:r>
              <a:endParaRPr b="0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762000" y="3333750"/>
            <a:ext cx="3619500" cy="1047900"/>
            <a:chOff x="762000" y="3333750"/>
            <a:chExt cx="3619500" cy="1047900"/>
          </a:xfrm>
        </p:grpSpPr>
        <p:sp>
          <p:nvSpPr>
            <p:cNvPr id="151" name="Google Shape;151;p17"/>
            <p:cNvSpPr/>
            <p:nvPr/>
          </p:nvSpPr>
          <p:spPr>
            <a:xfrm>
              <a:off x="762000" y="3333750"/>
              <a:ext cx="3619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1476375" y="3333750"/>
              <a:ext cx="2762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Controllo Fase</a:t>
              </a:r>
              <a:endParaRPr b="1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Regolazione digitale degli elementi.</a:t>
              </a:r>
              <a:endParaRPr b="0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762000" y="4572000"/>
            <a:ext cx="3619500" cy="1047900"/>
            <a:chOff x="762000" y="4572000"/>
            <a:chExt cx="3619500" cy="1047900"/>
          </a:xfrm>
        </p:grpSpPr>
        <p:sp>
          <p:nvSpPr>
            <p:cNvPr id="154" name="Google Shape;154;p17"/>
            <p:cNvSpPr/>
            <p:nvPr/>
          </p:nvSpPr>
          <p:spPr>
            <a:xfrm>
              <a:off x="762000" y="4572000"/>
              <a:ext cx="3619500" cy="1047900"/>
            </a:xfrm>
            <a:prstGeom prst="roundRect">
              <a:avLst>
                <a:gd fmla="val 10909" name="adj"/>
              </a:avLst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476375" y="4572000"/>
              <a:ext cx="2762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Riflessione Coerente</a:t>
              </a:r>
              <a:endParaRPr b="1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I segnali si sommano costruttivamente all'utente.</a:t>
              </a:r>
              <a:endParaRPr b="0" sz="13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&lt;svg xmlns=&quot;http://www.w3.org/2000/svg&quot; height=&quot;40px&quot; viewBox=&quot;0 -960 960 960&quot; width=&quot;40px&quot; fill=&quot;#bb2e29&quot;&gt;&lt;path d=&quot;m382-80-18.67-126.67q-17-6.33-34.83-16.66-17.83-10.34-32.17-21.67L178-192.33 79.33-365l106.34-78.67q-1.67-8.33-2-18.16-.34-9.84-.34-18.17 0-8.33.34-18.17.33-9.83 2-18.16L79.33-595 178-767.67 296.33-715q14.34-11.33 32.34-21.67 18-10.33 34.66-16L382-880h196l18.67 126.67q17 6.33 35.16 16.33 18.17 10 31.84 22L782-767.67 880.67-595l-106.34 77.33q1.67 9 2 18.84.34 9.83.34 18.83 0 9-.34 18.5Q776-452 774-443l106.33 78-98.66 172.67-118-52.67q-14.34 11.33-32 22-17.67 10.67-35 16.33L578-80H382Zm55.33-66.67h85l14-110q32.34-8 60.84-24.5T649-321l103.67 44.33 39.66-70.66L701-415q4.33-16 6.67-32.17Q710-463.33 710-480q0-16.67-2-32.83-2-16.17-7-32.17l91.33-67.67-39.66-70.66L649-638.67q-22.67-25-50.83-41.83-28.17-16.83-61.84-22.83l-13.66-110h-85l-14 110q-33 7.33-61.5 23.83T311-639l-103.67-44.33-39.66 70.66L259-545.33Q254.67-529 252.33-513 250-497 250-480q0 16.67 2.33 32.67 2.34 16 6.67 32.33l-91.33 67.67 39.66 70.66L311-321.33q23.33 23.66 51.83 40.16 28.5 16.5 60.84 24.5l13.66 110Zm43.34-200q55.33 0 94.33-39T614-480q0-55.33-39-94.33t-94.33-39q-55.67 0-94.5 39-38.84 39-38.84 94.33t38.84 94.33q38.83 39 94.5 39ZM480-480Z&quot;/&gt;&lt;/svg&gt;" id="156" name="Google Shape;15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438400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bb2e29&quot;&gt;&lt;path d=&quot;M431.33-120v-230H498v82h342v66.67H498V-120h-66.67ZM120-201.33V-268h244.67v66.67H120Zm178-164v-81.34H120v-66.66h178V-596h66.67v230.67H298Zm133.33-81.34v-66.66H840v66.66H431.33Zm164-163.33v-230H662v81.33h178V-692H662v82h-66.67ZM120-692v-66.67h408.67V-692H120Z&quot;/&gt;&lt;/svg&gt;"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367672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FFFFFF&quot;&gt;&lt;path d=&quot;M153.67-73.67Q120-107.33 120-156t33.83-82.33Q187.67-272 236-272q14 0 25 2.67 11 2.66 22 7.66L358.67-356q-22-25.67-32.34-58.33-10.33-32.67-5-67l-107.66-36.34q-15.67 25-40.67 39.34Q148-464 116-464q-48.33 0-82.17-33.83Q0-531.67 0-580t33.83-82.17Q67.67-696 116-696t82.17 33.83Q232-628.33 232-580v5.33l108.33 37.34q18.67-33.34 46.84-53Q415.33-610 450-617v-115q-39-11-62.5-42.83Q364-806.67 364-844q0-48.33 33.67-82.17Q431.33-960 480-960t82.33 33.83Q596-892.33 596-844q0 37.33-24 69.17Q548-743 510-732v115q34.67 7 63.17 26.67 28.5 19.66 47.16 53L728-574.67V-580q0-48.33 33.83-82.17Q795.67-696 844-696t82.17 33.67Q960-628.67 960-580t-33.83 82.33Q892.33-464 844-464q-32 0-57.5-14.33-25.5-14.34-40.17-39.34l-107.66 36.34Q644-447 634-414.5T601.33-356L677-262q11-5 22-7.5t24.71-2.5q48.96 0 82.62 33.67Q840-204.67 840-156t-33.67 82.33Q772.67-40 724-40t-82.33-33.83Q608-107.67 608-156q0-20 5.83-36.83 5.84-16.84 16.17-31.84L554.33-319q-35.08 19-74.87 19-39.79 0-74.79-19L330-224q10.33 15 16.17 31.5Q352-176 352-156q0 48.33-33.67 82.17Q284.67-40 236-40t-82.33-33.67Zm-37.65-457q20.98 0 35.15-14.19 14.16-14.19 14.16-35.16 0-20.98-14.19-35.15-14.19-14.16-35.16-14.16-20.98 0-35.15 14.19-14.16 14.19-14.16 35.16 0 20.98 14.19 35.15 14.19 14.16 35.16 14.16Zm155.15 409.81q14.16-14.19 14.16-35.16 0-20.98-14.19-35.15-14.19-14.16-35.16-14.16-20.98 0-35.15 14.19-14.16 14.19-14.16 35.16 0 20.98 14.19 35.15 14.19 14.16 35.16 14.16 20.98 0 35.15-14.19Zm244-688q14.16-14.19 14.16-35.16 0-20.98-14.19-35.15-14.19-14.16-35.16-14.16-20.98 0-35.15 14.19-14.16 14.19-14.16 35.16 0 20.98 14.19 35.15 14.19 14.16 35.16 14.16 20.98 0 35.15-14.19Zm-34.84 442.19q39 0 66-27.33t27-66.33q0-39-27.06-66-27.07-27-66.27-27-38.67 0-66 27.06-27.33 27.07-27.33 66.27 0 38.67 27.33 66t66.33 27.33Zm278.84 245.81q14.16-14.19 14.16-35.16 0-20.98-14.19-35.15-14.19-14.16-35.16-14.16-20.98 0-35.15 14.19-14.16 14.19-14.16 35.16 0 20.98 14.19 35.15 14.19 14.16 35.16 14.16 20.98 0 35.15-14.19Zm120-424q14.16-14.19 14.16-35.16 0-20.98-14.19-35.15-14.19-14.16-35.16-14.16-20.98 0-35.15 14.19-14.16 14.19-14.16 35.16 0 20.98 14.19 35.15 14.19 14.16 35.16 14.16 20.98 0 35.15-14.19ZM480-844ZM116-580Zm364 120Zm364-120ZM236-156Zm488 0Z&quot;/&gt;&lt;/svg&gt;" id="158" name="Google Shape;15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4915050"/>
            <a:ext cx="3619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/>
        </p:nvSpPr>
        <p:spPr>
          <a:xfrm>
            <a:off x="762000" y="647700"/>
            <a:ext cx="11401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Il Problema Affrontato</a:t>
            </a:r>
            <a:endParaRPr b="0" sz="3600">
              <a:solidFill>
                <a:srgbClr val="0033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" name="Google Shape;164;p18"/>
          <p:cNvGrpSpPr/>
          <p:nvPr/>
        </p:nvGrpSpPr>
        <p:grpSpPr>
          <a:xfrm>
            <a:off x="571500" y="1714500"/>
            <a:ext cx="5143500" cy="4000500"/>
            <a:chOff x="571500" y="1714500"/>
            <a:chExt cx="5143500" cy="4000500"/>
          </a:xfrm>
        </p:grpSpPr>
        <p:pic>
          <p:nvPicPr>
            <p:cNvPr descr="A clean, minimalist 3D isometric illustration of a wireless communication signal being reflected by a smart surface panel on a wall towards a mobile user in a simple office room, professional flat design style, corporate blue and white color palette, high clarity, simple geometric shapes." id="165" name="Google Shape;165;p18"/>
            <p:cNvPicPr preferRelativeResize="0"/>
            <p:nvPr/>
          </p:nvPicPr>
          <p:blipFill rotWithShape="1">
            <a:blip r:embed="rId3">
              <a:alphaModFix/>
            </a:blip>
            <a:srcRect b="0" l="1784" r="1784" t="0"/>
            <a:stretch/>
          </p:blipFill>
          <p:spPr>
            <a:xfrm>
              <a:off x="571500" y="1714500"/>
              <a:ext cx="5143500" cy="4000500"/>
            </a:xfrm>
            <a:prstGeom prst="roundRect">
              <a:avLst>
                <a:gd fmla="val 3809" name="adj"/>
              </a:avLst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>
              <a:off x="571500" y="1714500"/>
              <a:ext cx="5143500" cy="4000500"/>
            </a:xfrm>
            <a:prstGeom prst="roundRect">
              <a:avLst>
                <a:gd fmla="val 3809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18"/>
          <p:cNvGrpSpPr/>
          <p:nvPr/>
        </p:nvGrpSpPr>
        <p:grpSpPr>
          <a:xfrm>
            <a:off x="6096000" y="1714500"/>
            <a:ext cx="5524500" cy="4000500"/>
            <a:chOff x="6096000" y="1714500"/>
            <a:chExt cx="5524500" cy="4000500"/>
          </a:xfrm>
        </p:grpSpPr>
        <p:sp>
          <p:nvSpPr>
            <p:cNvPr id="169" name="Google Shape;169;p18"/>
            <p:cNvSpPr/>
            <p:nvPr/>
          </p:nvSpPr>
          <p:spPr>
            <a:xfrm>
              <a:off x="6096000" y="1714500"/>
              <a:ext cx="5524500" cy="40005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6381750" y="2000250"/>
              <a:ext cx="4953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Obiettivo e Sfide</a:t>
              </a:r>
              <a:endParaRPr b="1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17500" lvl="0" marL="457200" rtl="0" algn="l">
                <a:spcBef>
                  <a:spcPts val="1875"/>
                </a:spcBef>
                <a:spcAft>
                  <a:spcPts val="0"/>
                </a:spcAft>
                <a:buSzPts val="1400"/>
                <a:buChar char="●"/>
              </a:pPr>
              <a:r>
                <a:rPr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Massimizzare la potenza ricevuta (SNR) in scenari indoor critici.</a:t>
              </a:r>
              <a:endParaRPr/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SzPts val="1400"/>
                <a:buChar char="●"/>
              </a:pPr>
              <a:r>
                <a:rPr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Ottimizzazione delle fasi è un problema </a:t>
              </a:r>
              <a:r>
                <a:rPr b="1" lang="en-US" sz="1500">
                  <a:solidFill>
                    <a:srgbClr val="BB2E29"/>
                  </a:solidFill>
                  <a:latin typeface="Lato"/>
                  <a:ea typeface="Lato"/>
                  <a:cs typeface="Lato"/>
                  <a:sym typeface="Lato"/>
                </a:rPr>
                <a:t>non convesso</a:t>
              </a:r>
              <a:r>
                <a:rPr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/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SzPts val="1400"/>
                <a:buChar char="●"/>
              </a:pPr>
              <a:r>
                <a:rPr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Molte variabili e quantizzazione discreta (hardware reale).</a:t>
              </a:r>
              <a:endParaRPr/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highlight>
                    <a:srgbClr val="F1F5F9"/>
                  </a:highlight>
                  <a:latin typeface="Lato"/>
                  <a:ea typeface="Lato"/>
                  <a:cs typeface="Lato"/>
                  <a:sym typeface="Lato"/>
                </a:rPr>
                <a:t>Soluzione:</a:t>
              </a:r>
              <a:endParaRPr b="1" sz="1500">
                <a:solidFill>
                  <a:srgbClr val="1E293B"/>
                </a:solidFill>
                <a:highlight>
                  <a:srgbClr val="F1F5F9"/>
                </a:highlight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475569"/>
                  </a:solidFill>
                  <a:highlight>
                    <a:srgbClr val="F1F5F9"/>
                  </a:highlight>
                  <a:latin typeface="Lato"/>
                  <a:ea typeface="Lato"/>
                  <a:cs typeface="Lato"/>
                  <a:sym typeface="Lato"/>
                </a:rPr>
                <a:t>Utilizzare il Machine Learning per mappare </a:t>
              </a:r>
              <a:endParaRPr sz="1500">
                <a:solidFill>
                  <a:srgbClr val="475569"/>
                </a:solidFill>
                <a:highlight>
                  <a:srgbClr val="F1F5F9"/>
                </a:highlight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i="1" lang="en-US" sz="1500">
                  <a:solidFill>
                    <a:srgbClr val="003366"/>
                  </a:solidFill>
                  <a:highlight>
                    <a:srgbClr val="F1F5F9"/>
                  </a:highlight>
                  <a:latin typeface="Lato"/>
                  <a:ea typeface="Lato"/>
                  <a:cs typeface="Lato"/>
                  <a:sym typeface="Lato"/>
                </a:rPr>
                <a:t>Posizione → Fasi</a:t>
              </a:r>
              <a:r>
                <a:rPr lang="en-US" sz="1500">
                  <a:solidFill>
                    <a:srgbClr val="475569"/>
                  </a:solidFill>
                  <a:highlight>
                    <a:srgbClr val="F1F5F9"/>
                  </a:highlight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500">
                <a:solidFill>
                  <a:srgbClr val="475569"/>
                </a:solidFill>
                <a:highlight>
                  <a:srgbClr val="F1F5F9"/>
                </a:highlight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71" name="Google Shape;171;p18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19"/>
          <p:cNvGrpSpPr/>
          <p:nvPr/>
        </p:nvGrpSpPr>
        <p:grpSpPr>
          <a:xfrm>
            <a:off x="4381416" y="1518728"/>
            <a:ext cx="7429386" cy="4434383"/>
            <a:chOff x="4572000" y="1518750"/>
            <a:chExt cx="7239000" cy="4572000"/>
          </a:xfrm>
        </p:grpSpPr>
        <p:pic>
          <p:nvPicPr>
            <p:cNvPr id="179" name="Google Shape;179;p19"/>
            <p:cNvPicPr preferRelativeResize="0"/>
            <p:nvPr/>
          </p:nvPicPr>
          <p:blipFill rotWithShape="1">
            <a:blip r:embed="rId3">
              <a:alphaModFix/>
            </a:blip>
            <a:srcRect b="0" l="13745" r="1517" t="0"/>
            <a:stretch/>
          </p:blipFill>
          <p:spPr>
            <a:xfrm>
              <a:off x="4572000" y="1518750"/>
              <a:ext cx="7239000" cy="4572000"/>
            </a:xfrm>
            <a:prstGeom prst="roundRect">
              <a:avLst>
                <a:gd fmla="val 3333" name="adj"/>
              </a:avLst>
            </a:prstGeom>
            <a:noFill/>
            <a:ln>
              <a:noFill/>
            </a:ln>
          </p:spPr>
        </p:pic>
        <p:sp>
          <p:nvSpPr>
            <p:cNvPr id="180" name="Google Shape;180;p19"/>
            <p:cNvSpPr/>
            <p:nvPr/>
          </p:nvSpPr>
          <p:spPr>
            <a:xfrm>
              <a:off x="4572000" y="1518750"/>
              <a:ext cx="7239000" cy="4572000"/>
            </a:xfrm>
            <a:prstGeom prst="roundRect">
              <a:avLst>
                <a:gd fmla="val 3333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571500" y="1524000"/>
            <a:ext cx="3429000" cy="809700"/>
            <a:chOff x="571500" y="1524000"/>
            <a:chExt cx="3429000" cy="809700"/>
          </a:xfrm>
        </p:grpSpPr>
        <p:sp>
          <p:nvSpPr>
            <p:cNvPr id="182" name="Google Shape;182;p19"/>
            <p:cNvSpPr/>
            <p:nvPr/>
          </p:nvSpPr>
          <p:spPr>
            <a:xfrm>
              <a:off x="571500" y="1524000"/>
              <a:ext cx="34290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1190625" y="1619250"/>
              <a:ext cx="2667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Area</a:t>
              </a:r>
              <a:endParaRPr b="1" sz="11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Stanza 10m x 8m x 3m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4" name="Google Shape;184;p19"/>
          <p:cNvGrpSpPr/>
          <p:nvPr/>
        </p:nvGrpSpPr>
        <p:grpSpPr>
          <a:xfrm>
            <a:off x="571500" y="2428875"/>
            <a:ext cx="3429000" cy="809700"/>
            <a:chOff x="571500" y="2428875"/>
            <a:chExt cx="3429000" cy="809700"/>
          </a:xfrm>
        </p:grpSpPr>
        <p:sp>
          <p:nvSpPr>
            <p:cNvPr id="185" name="Google Shape;185;p19"/>
            <p:cNvSpPr/>
            <p:nvPr/>
          </p:nvSpPr>
          <p:spPr>
            <a:xfrm>
              <a:off x="571500" y="2428875"/>
              <a:ext cx="34290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1190625" y="2524125"/>
              <a:ext cx="2667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Frequenza</a:t>
              </a:r>
              <a:endParaRPr b="1" sz="11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3.5 GHz (Banda 5G)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7" name="Google Shape;187;p19"/>
          <p:cNvGrpSpPr/>
          <p:nvPr/>
        </p:nvGrpSpPr>
        <p:grpSpPr>
          <a:xfrm>
            <a:off x="571500" y="3333750"/>
            <a:ext cx="3429000" cy="809700"/>
            <a:chOff x="571500" y="3333750"/>
            <a:chExt cx="3429000" cy="809700"/>
          </a:xfrm>
        </p:grpSpPr>
        <p:sp>
          <p:nvSpPr>
            <p:cNvPr id="188" name="Google Shape;188;p19"/>
            <p:cNvSpPr/>
            <p:nvPr/>
          </p:nvSpPr>
          <p:spPr>
            <a:xfrm>
              <a:off x="571500" y="3333750"/>
              <a:ext cx="34290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1190625" y="3429000"/>
              <a:ext cx="2667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IRS</a:t>
              </a:r>
              <a:endParaRPr b="1" sz="11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Griglia 8x8 (64 elementi passivi)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571500" y="4238625"/>
            <a:ext cx="3429000" cy="809700"/>
            <a:chOff x="571500" y="4238625"/>
            <a:chExt cx="3429000" cy="809700"/>
          </a:xfrm>
        </p:grpSpPr>
        <p:sp>
          <p:nvSpPr>
            <p:cNvPr id="191" name="Google Shape;191;p19"/>
            <p:cNvSpPr/>
            <p:nvPr/>
          </p:nvSpPr>
          <p:spPr>
            <a:xfrm>
              <a:off x="571500" y="4238625"/>
              <a:ext cx="34290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1190625" y="4333875"/>
              <a:ext cx="2667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Quantizzazione</a:t>
              </a:r>
              <a:endParaRPr b="1" sz="11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K=4 livelli di fase (2 bit)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571500" y="5143500"/>
            <a:ext cx="3429000" cy="809700"/>
            <a:chOff x="571500" y="5143500"/>
            <a:chExt cx="3429000" cy="809700"/>
          </a:xfrm>
        </p:grpSpPr>
        <p:sp>
          <p:nvSpPr>
            <p:cNvPr id="194" name="Google Shape;194;p19"/>
            <p:cNvSpPr/>
            <p:nvPr/>
          </p:nvSpPr>
          <p:spPr>
            <a:xfrm>
              <a:off x="571500" y="5143500"/>
              <a:ext cx="34290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1190625" y="5238750"/>
              <a:ext cx="2667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Dataset</a:t>
              </a:r>
              <a:endParaRPr b="1" sz="11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2000 posizioni campionate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96" name="Google Shape;196;p19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b="0"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4381425" y="5953200"/>
            <a:ext cx="723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Ambiente modellato per riflettere un ufficio indoor realistico.</a:t>
            </a:r>
            <a:endParaRPr i="1" sz="9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5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Scenario di Simulazione</a:t>
            </a:r>
            <a:endParaRPr b="0" sz="3150">
              <a:solidFill>
                <a:srgbClr val="0033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svg xmlns=&quot;http://www.w3.org/2000/svg&quot; height=&quot;40px&quot; viewBox=&quot;0 -960 960 960&quot; width=&quot;40px&quot; fill=&quot;#bb2e29&quot;&gt;&lt;path d=&quot;M571.33-276h194v-196h-66.66v129.33H571.33V-276Zm-376-212H262v-129.33h127.33V-684h-194v196Zm-48.66 328q-27 0-46.84-19.83Q80-199.67 80-226.67v-506.66q0-27 19.83-46.84Q119.67-800 146.67-800h666.66q27 0 46.84 19.83Q880-760.33 880-733.33v506.66q0 27-19.83 46.84Q840.33-160 813.33-160H146.67Zm0-66.67h666.66v-506.66H146.67v506.66Zm0 0v-506.66 506.66Z&quot;/&gt;&lt;/svg&gt;" id="200" name="Google Shape;2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425" y="17478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bb2e29&quot;&gt;&lt;path d=&quot;M120-513.33V-840h326.67v326.67H120ZM120-120v-326.67h326.67V-120H120Zm393.33-393.33V-840H840v326.67H513.33Zm0 393.33v-326.67H840V-120H513.33ZM186.67-580H380v-193.33H186.67V-580ZM580-580h193.33v-193.33H580V-580Zm0 393.33h193.33V-380H580v193.33Zm-393.33 0H380V-380H186.67v193.33ZM580-580Zm0 200Zm-200 0Zm0-200Z&quot;/&gt;&lt;/svg&gt;" id="201" name="Google Shape;20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425" y="355762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bb2e29&quot;&gt;&lt;path d=&quot;M431.33-120v-230H498v82h342v66.67H498V-120h-66.67ZM120-201.33V-268h244.67v66.67H120Zm178-164v-81.34H120v-66.66h178V-596h66.67v230.67H298Zm133.33-81.34v-66.66H840v66.66H431.33Zm164-163.33v-230H662v81.33h178V-692H662v82h-66.67ZM120-692v-66.67h408.67V-692H120Z&quot;/&gt;&lt;/svg&gt;" id="202" name="Google Shape;20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425" y="4462500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bb2e29&quot;&gt;&lt;path d=&quot;M120-160v-152h720v152H120Zm66.67-38.67h74.66v-74.66h-74.66v74.66ZM120-648v-152h720v152H120Zm66.67-38.67h74.66v-74.66h-74.66v74.66ZM120-404v-152h720v152H120Zm66.67-38.67h74.66v-74.66h-74.66v74.66Z&quot;/&gt;&lt;/svg&gt;" id="203" name="Google Shape;20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425" y="53673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bb2e29ff&quot;&gt;&lt;path d=&quot;M80-146v-66q28.33-2 48.5-13.67 20.17-11.66 40.5-24.83 20.33-13.17 45.5-23.33Q239.67-284 276.83-284q37.17 0 62.67 11.17 25.5 11.16 46.83 24.66 21.34 13.5 43 24.84Q451-212 480-212t50.67-11.33q21.66-11.34 43-24.84 21.33-13.5 47-24.66Q646.33-284 683.5-284t61.83 10.17q24.67 10.16 45.34 23.33 20.66 13.17 41 24.83Q852-214 880-212v66q-36-1.33-60.17-12.67Q795.67-170 775-183.17q-20.67-13.16-41.33-24Q713-218 683.33-218q-29.33 0-51.16 11.17-21.84 11.16-43 24.66-21.17 13.5-46.67 24.84Q517-146 480-146t-62.5-11.33q-25.5-11.34-46.67-24.84-21.16-13.5-42.83-24.66Q306.33-218 276.83-218t-50.66 10.83q-21.17 10.84-41.5 24-20.34 13.17-44.5 24.5Q116-147.33 80-146Zm0-176.67v-66q28.33-2 48.5-13.66Q148.67-414 169-427.17q20.33-13.16 45.5-23.33 25.17-10.17 62.33-10.17 37.17 0 62.67 11.17t46.83 24.67q21.34 13.5 43 24.83Q451-388.67 480-388.67T530.67-400q21.66-11.33 43-24.83 21.33-13.5 47-24.67 25.66-11.17 62.66-11.17 37.34 0 62 10.17 24.67 10.17 45.34 23.33 20.66 13.17 41 24.84Q852-390.67 880-388.67v66q-36-2.66-60.17-14.33-24.16-11.67-44.83-24.5-20.67-12.83-41.33-23-20.67-10.17-50.34-10.17-29.66 0-51.16 11.17-21.5 11.17-43 24.67-21.5 13.5-46.84 24.83Q517-322.67 480-322.67T417.5-334q-25.5-11.33-46.67-24.83-21.16-13.5-42.83-24.67-21.67-11.17-51.17-11.17t-50.66 10.84q-21.17 10.83-41.5 24-20.34 13.16-44.5 24.5Q116-324 80-322.67Zm0-176.66v-66q28.33-1.34 48.5-12.67t40.5-24.5q20.33-13.17 45.5-24t62.33-10.83q37.17 0 62.67 11.16Q365-615 386.33-601.5q21.34 13.5 43 24.83Q451-565.33 480-565.33t50.67-11.34q21.66-11.33 43-24.83 21.33-13.5 47-24.67 25.66-11.16 62.66-11.16 37.34 0 62 10.83 24.67 10.83 45.34 24 20.66 13.17 41 24.5Q852-566.67 880-565.33v66q-36-1.34-60.17-12.67-24.16-11.33-44.83-24.5-20.67-13.17-41.33-24-20.67-10.83-50.34-10.83-29.33 0-51.16 11.16-21.84 11.17-43 24.67Q568-522 542.5-510.67 517-499.33 480-499.33t-62.5-11.34Q392-522 370.83-535.5 349.67-549 328-560.17q-21.67-11.16-51.17-11.16t-50.66 10.83q-21.17 10.83-41.5 24-20.34 13.17-44.5 24.5Q116-500.67 80-499.33ZM80-676v-66q28.33-2 48.5-13.67 20.17-11.66 40.5-24.83 20.33-13.17 45.5-23.33Q239.67-814 276.83-814q37.17 0 62.67 11.17 25.5 11.16 46.83 24.66 21.34 13.5 43 24.84Q451-742 480-742t50.67-11.33q21.66-11.34 43-24.84 21.33-13.5 47-24.66Q646.33-814 683.33-814q37.34 0 62 10.17 24.67 10.16 45.34 23.33 20.66 13.17 41 24.83Q852-744 880-742v66q-36-1.33-60.17-12.67Q795.67-700 775-713.17q-20.67-13.16-41.33-24Q713-748 683.33-748q-29.33 0-51.16 11.17-21.84 11.16-43 24.66-21.17 13.5-46.67 24.84Q517-676 480-676t-62.5-11.33q-25.5-11.34-46.67-24.84-21.16-13.5-42.83-24.66Q306.33-748 276.83-748t-50.66 10.83q-21.17 10.84-41.5 24-20.34 13.17-44.5 24.5Q116-677.33 80-676Z&quot;/&gt;&lt;/svg&gt;" id="204" name="Google Shape;20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0425" y="2652750"/>
            <a:ext cx="3619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20"/>
          <p:cNvGrpSpPr/>
          <p:nvPr/>
        </p:nvGrpSpPr>
        <p:grpSpPr>
          <a:xfrm>
            <a:off x="0" y="0"/>
            <a:ext cx="12192000" cy="1247700"/>
            <a:chOff x="0" y="0"/>
            <a:chExt cx="12192000" cy="1247700"/>
          </a:xfrm>
        </p:grpSpPr>
        <p:sp>
          <p:nvSpPr>
            <p:cNvPr id="211" name="Google Shape;211;p20"/>
            <p:cNvSpPr/>
            <p:nvPr/>
          </p:nvSpPr>
          <p:spPr>
            <a:xfrm>
              <a:off x="571500" y="647700"/>
              <a:ext cx="57300" cy="600000"/>
            </a:xfrm>
            <a:prstGeom prst="rect">
              <a:avLst/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3190875" y="3935250"/>
            <a:ext cx="6000900" cy="133500"/>
            <a:chOff x="2857500" y="3362325"/>
            <a:chExt cx="6000900" cy="133500"/>
          </a:xfrm>
        </p:grpSpPr>
        <p:pic>
          <p:nvPicPr>
            <p:cNvPr id="214" name="Google Shape;21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57500" y="3362325"/>
              <a:ext cx="476400" cy="13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19750" y="3362325"/>
              <a:ext cx="476400" cy="13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2000" y="3362325"/>
              <a:ext cx="476400" cy="13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20"/>
          <p:cNvSpPr/>
          <p:nvPr/>
        </p:nvSpPr>
        <p:spPr>
          <a:xfrm>
            <a:off x="714375" y="2433600"/>
            <a:ext cx="2476500" cy="28575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714375" y="2624100"/>
            <a:ext cx="2476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1. Input</a:t>
            </a:r>
            <a:endParaRPr b="1" sz="180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904875" y="4052850"/>
            <a:ext cx="20955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Posizione Utente</a:t>
            </a:r>
            <a:endParaRPr b="0" sz="13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1" lang="en-US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(x, y, 1.0)</a:t>
            </a:r>
            <a:endParaRPr b="1" sz="15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476625" y="2433600"/>
            <a:ext cx="2476500" cy="28575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3476625" y="2624100"/>
            <a:ext cx="2476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2. Modello ML</a:t>
            </a:r>
            <a:endParaRPr b="1" sz="180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3667125" y="4052850"/>
            <a:ext cx="2095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Apprendimento Supervisionato</a:t>
            </a:r>
            <a:endParaRPr b="0" sz="13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238875" y="2433600"/>
            <a:ext cx="2476500" cy="28575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238875" y="2624100"/>
            <a:ext cx="2476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3. Predizione</a:t>
            </a:r>
            <a:endParaRPr b="1" sz="180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762000" y="647700"/>
            <a:ext cx="11401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Metodologia Proposta</a:t>
            </a:r>
            <a:endParaRPr b="0" sz="3600">
              <a:solidFill>
                <a:srgbClr val="0033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429375" y="4052850"/>
            <a:ext cx="20955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Configurazione di Fase</a:t>
            </a:r>
            <a:endParaRPr b="0" sz="13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Theta(θ)</a:t>
            </a:r>
            <a:endParaRPr b="1" sz="15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9001125" y="2433600"/>
            <a:ext cx="2476500" cy="28575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9001125" y="2624100"/>
            <a:ext cx="2476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4. Ottimo</a:t>
            </a:r>
            <a:endParaRPr b="1" sz="180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9191625" y="4052850"/>
            <a:ext cx="2095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Max SNR e Copertura</a:t>
            </a:r>
            <a:endParaRPr b="0" sz="13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b="0"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6275" y="3290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4025" y="3290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48525" y="3290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10775" y="32908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1"/>
          <p:cNvGrpSpPr/>
          <p:nvPr/>
        </p:nvGrpSpPr>
        <p:grpSpPr>
          <a:xfrm>
            <a:off x="571500" y="1524000"/>
            <a:ext cx="3429000" cy="4000500"/>
            <a:chOff x="571500" y="1524000"/>
            <a:chExt cx="3429000" cy="4000500"/>
          </a:xfrm>
        </p:grpSpPr>
        <p:sp>
          <p:nvSpPr>
            <p:cNvPr id="241" name="Google Shape;241;p21"/>
            <p:cNvSpPr/>
            <p:nvPr/>
          </p:nvSpPr>
          <p:spPr>
            <a:xfrm>
              <a:off x="5715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2000250" y="1762125"/>
              <a:ext cx="571500" cy="5715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857250" y="2476500"/>
              <a:ext cx="2857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Regressione Lineare</a:t>
              </a:r>
              <a:endParaRPr b="1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Vantaggio:</a:t>
              </a:r>
              <a:endParaRPr b="1" sz="13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Estrema efficienza e semplicità computazionale.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Limite:</a:t>
              </a:r>
              <a:endParaRPr b="1" sz="13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Difficoltà nel catturare non-linearità spaziali.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4" name="Google Shape;244;p21"/>
          <p:cNvGrpSpPr/>
          <p:nvPr/>
        </p:nvGrpSpPr>
        <p:grpSpPr>
          <a:xfrm>
            <a:off x="4381500" y="1524000"/>
            <a:ext cx="3429000" cy="4000500"/>
            <a:chOff x="4381500" y="1524000"/>
            <a:chExt cx="3429000" cy="4000500"/>
          </a:xfrm>
        </p:grpSpPr>
        <p:sp>
          <p:nvSpPr>
            <p:cNvPr id="245" name="Google Shape;245;p21"/>
            <p:cNvSpPr/>
            <p:nvPr/>
          </p:nvSpPr>
          <p:spPr>
            <a:xfrm>
              <a:off x="43815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5810250" y="1762125"/>
              <a:ext cx="571500" cy="5715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4667250" y="2476500"/>
              <a:ext cx="2857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k-Nearest Neighbors</a:t>
              </a:r>
              <a:endParaRPr b="1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Vantaggio:</a:t>
              </a:r>
              <a:endParaRPr b="1" sz="13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Metodo non parametrico, ottimo per relazioni locali.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Limite:</a:t>
              </a:r>
              <a:endParaRPr b="1" sz="13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Scalabilità ridotta con dataset molto grandi.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8" name="Google Shape;248;p21"/>
          <p:cNvGrpSpPr/>
          <p:nvPr/>
        </p:nvGrpSpPr>
        <p:grpSpPr>
          <a:xfrm>
            <a:off x="8191500" y="1524000"/>
            <a:ext cx="3429000" cy="4000500"/>
            <a:chOff x="8191500" y="1524000"/>
            <a:chExt cx="3429000" cy="4000500"/>
          </a:xfrm>
        </p:grpSpPr>
        <p:sp>
          <p:nvSpPr>
            <p:cNvPr id="249" name="Google Shape;249;p21"/>
            <p:cNvSpPr/>
            <p:nvPr/>
          </p:nvSpPr>
          <p:spPr>
            <a:xfrm>
              <a:off x="81915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9620250" y="1762125"/>
              <a:ext cx="571500" cy="5715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8477250" y="2476500"/>
              <a:ext cx="2857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Multi-Layer Perceptron</a:t>
              </a:r>
              <a:endParaRPr b="1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Vantaggio:</a:t>
              </a:r>
              <a:endParaRPr b="1" sz="13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Alta flessibilità per modellare relazioni complesse.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Limite:</a:t>
              </a:r>
              <a:endParaRPr b="1" sz="13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Richiede più tempo di addestramento.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52" name="Google Shape;252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Algoritmi a Confronto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5025" y="1866900"/>
            <a:ext cx="362100" cy="3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5025" y="1866900"/>
            <a:ext cx="362100" cy="3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5025" y="1866900"/>
            <a:ext cx="362100" cy="3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4" name="Google Shape;264;p22"/>
          <p:cNvGraphicFramePr/>
          <p:nvPr/>
        </p:nvGraphicFramePr>
        <p:xfrm>
          <a:off x="571500" y="19335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{95AE8A49-A27D-455F-9860-A5BE737BE847}</a:tableStyleId>
              </a:tblPr>
              <a:tblGrid>
                <a:gridCol w="2212625"/>
                <a:gridCol w="6638175"/>
                <a:gridCol w="219820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Cosa misura?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Obiettivo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NMSE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Errore Quadratico Medio Normalizzato sulle fasi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Minimizzare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Tracking@1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Percentuale di elementi con fase predetta esatta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Massimizzare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Tracking@2</a:t>
                      </a:r>
                      <a:endParaRPr b="1" i="0" sz="1500" u="none" cap="none" strike="noStrike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Percentuale di elementi con errore di fase entro ±1 livello</a:t>
                      </a:r>
                      <a:endParaRPr b="0" i="0" sz="1500" u="none" cap="none" strike="noStrike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Massimizzare</a:t>
                      </a:r>
                      <a:endParaRPr b="0" i="0" sz="1500" u="none" cap="none" strike="noStrike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MAE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Errore medio assoluto in gradi (°)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Sotto i 60°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Training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Tempo necessario per addestrare il modello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22"/>
          <p:cNvSpPr/>
          <p:nvPr/>
        </p:nvSpPr>
        <p:spPr>
          <a:xfrm>
            <a:off x="571500" y="3109913"/>
            <a:ext cx="221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2784127" y="3109913"/>
            <a:ext cx="663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9422308" y="3109913"/>
            <a:ext cx="21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71500" y="3709988"/>
            <a:ext cx="221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784127" y="3709988"/>
            <a:ext cx="663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9422308" y="3709988"/>
            <a:ext cx="21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571500" y="4310063"/>
            <a:ext cx="221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784127" y="4310063"/>
            <a:ext cx="663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9422308" y="4310063"/>
            <a:ext cx="21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571500" y="4910138"/>
            <a:ext cx="221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784127" y="4910138"/>
            <a:ext cx="663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9422308" y="4910138"/>
            <a:ext cx="21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762000" y="6477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Metriche di Performance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71500" y="647700"/>
            <a:ext cx="57150" cy="600075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762000" y="647700"/>
            <a:ext cx="10668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5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Risultati: Precisione del Tracking</a:t>
            </a:r>
            <a:endParaRPr b="0" sz="3150">
              <a:solidFill>
                <a:srgbClr val="0033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666750" y="1428750"/>
            <a:ext cx="10858500" cy="28575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23"/>
          <p:cNvGrpSpPr/>
          <p:nvPr/>
        </p:nvGrpSpPr>
        <p:grpSpPr>
          <a:xfrm>
            <a:off x="857250" y="1619250"/>
            <a:ext cx="2476500" cy="2476500"/>
            <a:chOff x="762000" y="1619250"/>
            <a:chExt cx="2476500" cy="2476500"/>
          </a:xfrm>
        </p:grpSpPr>
        <p:sp>
          <p:nvSpPr>
            <p:cNvPr id="289" name="Google Shape;289;p23"/>
            <p:cNvSpPr/>
            <p:nvPr/>
          </p:nvSpPr>
          <p:spPr>
            <a:xfrm>
              <a:off x="762000" y="1619250"/>
              <a:ext cx="2476500" cy="24765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762000" y="1714500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336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Accuracy</a:t>
              </a:r>
              <a:endParaRPr b="0" sz="11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1309725" y="2461888"/>
              <a:ext cx="238200" cy="1143000"/>
            </a:xfrm>
            <a:prstGeom prst="rect">
              <a:avLst/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81225" y="2176138"/>
              <a:ext cx="238200" cy="14289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452725" y="2461888"/>
              <a:ext cx="238200" cy="11430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3"/>
            <p:cNvSpPr txBox="1"/>
            <p:nvPr/>
          </p:nvSpPr>
          <p:spPr>
            <a:xfrm>
              <a:off x="11668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0.668</a:t>
              </a:r>
              <a:endParaRPr b="1" sz="9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17383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97316"/>
                  </a:solidFill>
                  <a:latin typeface="Poppins"/>
                  <a:ea typeface="Poppins"/>
                  <a:cs typeface="Poppins"/>
                  <a:sym typeface="Poppins"/>
                </a:rPr>
                <a:t>0.838</a:t>
              </a:r>
              <a:endParaRPr b="1" sz="900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6" name="Google Shape;296;p23"/>
            <p:cNvSpPr txBox="1"/>
            <p:nvPr/>
          </p:nvSpPr>
          <p:spPr>
            <a:xfrm>
              <a:off x="23098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2C55E"/>
                  </a:solidFill>
                  <a:latin typeface="Poppins"/>
                  <a:ea typeface="Poppins"/>
                  <a:cs typeface="Poppins"/>
                  <a:sym typeface="Poppins"/>
                </a:rPr>
                <a:t>0.668</a:t>
              </a:r>
              <a:endParaRPr b="1" sz="900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7" name="Google Shape;297;p23"/>
          <p:cNvGrpSpPr/>
          <p:nvPr/>
        </p:nvGrpSpPr>
        <p:grpSpPr>
          <a:xfrm>
            <a:off x="3524250" y="1619250"/>
            <a:ext cx="2476500" cy="2476500"/>
            <a:chOff x="3429000" y="1619250"/>
            <a:chExt cx="2476500" cy="2476500"/>
          </a:xfrm>
        </p:grpSpPr>
        <p:sp>
          <p:nvSpPr>
            <p:cNvPr id="298" name="Google Shape;298;p23"/>
            <p:cNvSpPr/>
            <p:nvPr/>
          </p:nvSpPr>
          <p:spPr>
            <a:xfrm>
              <a:off x="3429000" y="1619250"/>
              <a:ext cx="2476500" cy="24765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3429000" y="1714500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336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Training Time</a:t>
              </a:r>
              <a:endParaRPr b="0" sz="11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3976725" y="3560188"/>
              <a:ext cx="238200" cy="19200"/>
            </a:xfrm>
            <a:prstGeom prst="rect">
              <a:avLst/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4548225" y="3426838"/>
              <a:ext cx="238200" cy="1524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5119725" y="2436238"/>
              <a:ext cx="238200" cy="11430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 txBox="1"/>
            <p:nvPr/>
          </p:nvSpPr>
          <p:spPr>
            <a:xfrm>
              <a:off x="38338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0.00s</a:t>
              </a:r>
              <a:endParaRPr b="1" sz="9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44053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97316"/>
                  </a:solidFill>
                  <a:latin typeface="Poppins"/>
                  <a:ea typeface="Poppins"/>
                  <a:cs typeface="Poppins"/>
                  <a:sym typeface="Poppins"/>
                </a:rPr>
                <a:t>0.04s</a:t>
              </a:r>
              <a:endParaRPr b="1" sz="900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49768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2C55E"/>
                  </a:solidFill>
                  <a:latin typeface="Poppins"/>
                  <a:ea typeface="Poppins"/>
                  <a:cs typeface="Poppins"/>
                  <a:sym typeface="Poppins"/>
                </a:rPr>
                <a:t>0.31s</a:t>
              </a:r>
              <a:endParaRPr b="1" sz="900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6" name="Google Shape;306;p23"/>
          <p:cNvGrpSpPr/>
          <p:nvPr/>
        </p:nvGrpSpPr>
        <p:grpSpPr>
          <a:xfrm>
            <a:off x="6191250" y="1619250"/>
            <a:ext cx="2476500" cy="2476500"/>
            <a:chOff x="6096000" y="1619250"/>
            <a:chExt cx="2476500" cy="2476500"/>
          </a:xfrm>
        </p:grpSpPr>
        <p:sp>
          <p:nvSpPr>
            <p:cNvPr id="307" name="Google Shape;307;p23"/>
            <p:cNvSpPr/>
            <p:nvPr/>
          </p:nvSpPr>
          <p:spPr>
            <a:xfrm>
              <a:off x="6096000" y="1619250"/>
              <a:ext cx="2476500" cy="24765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 txBox="1"/>
            <p:nvPr/>
          </p:nvSpPr>
          <p:spPr>
            <a:xfrm>
              <a:off x="6096000" y="1714500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336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Tracking@1</a:t>
              </a:r>
              <a:endParaRPr b="0" sz="11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6643725" y="2433600"/>
              <a:ext cx="238200" cy="1124100"/>
            </a:xfrm>
            <a:prstGeom prst="rect">
              <a:avLst/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7215225" y="2443125"/>
              <a:ext cx="238200" cy="1114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7786725" y="2405025"/>
              <a:ext cx="238200" cy="11526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65008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46.0%</a:t>
              </a:r>
              <a:endParaRPr b="1" sz="9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70723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97316"/>
                  </a:solidFill>
                  <a:latin typeface="Poppins"/>
                  <a:ea typeface="Poppins"/>
                  <a:cs typeface="Poppins"/>
                  <a:sym typeface="Poppins"/>
                </a:rPr>
                <a:t>45.5%</a:t>
              </a:r>
              <a:endParaRPr b="1" sz="900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23"/>
            <p:cNvSpPr txBox="1"/>
            <p:nvPr/>
          </p:nvSpPr>
          <p:spPr>
            <a:xfrm>
              <a:off x="76438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2C55E"/>
                  </a:solidFill>
                  <a:latin typeface="Poppins"/>
                  <a:ea typeface="Poppins"/>
                  <a:cs typeface="Poppins"/>
                  <a:sym typeface="Poppins"/>
                </a:rPr>
                <a:t>47.1%</a:t>
              </a:r>
              <a:endParaRPr b="1" sz="900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8858250" y="1619250"/>
            <a:ext cx="2476500" cy="2476500"/>
            <a:chOff x="8763000" y="1619250"/>
            <a:chExt cx="2476500" cy="2476500"/>
          </a:xfrm>
        </p:grpSpPr>
        <p:sp>
          <p:nvSpPr>
            <p:cNvPr id="316" name="Google Shape;316;p23"/>
            <p:cNvSpPr/>
            <p:nvPr/>
          </p:nvSpPr>
          <p:spPr>
            <a:xfrm>
              <a:off x="8763000" y="1619250"/>
              <a:ext cx="2476500" cy="24765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8763000" y="1714500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336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Phase Error</a:t>
              </a:r>
              <a:endParaRPr b="0" sz="11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9310725" y="2393675"/>
              <a:ext cx="238200" cy="1124100"/>
            </a:xfrm>
            <a:prstGeom prst="rect">
              <a:avLst/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9882225" y="2374625"/>
              <a:ext cx="238200" cy="11430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10453725" y="2393675"/>
              <a:ext cx="238200" cy="11241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9167851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56.13°</a:t>
              </a:r>
              <a:endParaRPr b="1" sz="9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9739313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97316"/>
                  </a:solidFill>
                  <a:latin typeface="Poppins"/>
                  <a:ea typeface="Poppins"/>
                  <a:cs typeface="Poppins"/>
                  <a:sym typeface="Poppins"/>
                </a:rPr>
                <a:t>57.19°</a:t>
              </a:r>
              <a:endParaRPr b="1" sz="900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10310813" y="3667125"/>
              <a:ext cx="523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2C55E"/>
                  </a:solidFill>
                  <a:latin typeface="Poppins"/>
                  <a:ea typeface="Poppins"/>
                  <a:cs typeface="Poppins"/>
                  <a:sym typeface="Poppins"/>
                </a:rPr>
                <a:t>56.14°</a:t>
              </a:r>
              <a:endParaRPr b="1" sz="900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4" name="Google Shape;324;p23"/>
          <p:cNvGrpSpPr/>
          <p:nvPr/>
        </p:nvGrpSpPr>
        <p:grpSpPr>
          <a:xfrm>
            <a:off x="666774" y="4953000"/>
            <a:ext cx="10858957" cy="1143000"/>
            <a:chOff x="571500" y="4953000"/>
            <a:chExt cx="11049000" cy="1143000"/>
          </a:xfrm>
        </p:grpSpPr>
        <p:sp>
          <p:nvSpPr>
            <p:cNvPr id="325" name="Google Shape;325;p23"/>
            <p:cNvSpPr/>
            <p:nvPr/>
          </p:nvSpPr>
          <p:spPr>
            <a:xfrm>
              <a:off x="571500" y="4953000"/>
              <a:ext cx="11049000" cy="1143000"/>
            </a:xfrm>
            <a:prstGeom prst="roundRect">
              <a:avLst>
                <a:gd fmla="val 12500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 txBox="1"/>
            <p:nvPr/>
          </p:nvSpPr>
          <p:spPr>
            <a:xfrm>
              <a:off x="857250" y="5095875"/>
              <a:ext cx="1047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Messaggio Chiave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2E8F0"/>
                  </a:solidFill>
                  <a:latin typeface="Lato"/>
                  <a:ea typeface="Lato"/>
                  <a:cs typeface="Lato"/>
                  <a:sym typeface="Lato"/>
                </a:rPr>
                <a:t>I risultati evidenziano come Linear e MLP siano quasi sovrapponibili in precisione, con quest'ultimo che richiede tuttavia tempi di addestramento significativamente superiori.</a:t>
              </a:r>
              <a:endParaRPr b="0" sz="13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27" name="Google Shape;327;p23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b="0"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3"/>
          <p:cNvGrpSpPr/>
          <p:nvPr/>
        </p:nvGrpSpPr>
        <p:grpSpPr>
          <a:xfrm>
            <a:off x="4381500" y="4381500"/>
            <a:ext cx="3429000" cy="381000"/>
            <a:chOff x="4381500" y="4381500"/>
            <a:chExt cx="3429000" cy="381000"/>
          </a:xfrm>
        </p:grpSpPr>
        <p:sp>
          <p:nvSpPr>
            <p:cNvPr id="329" name="Google Shape;329;p23"/>
            <p:cNvSpPr/>
            <p:nvPr/>
          </p:nvSpPr>
          <p:spPr>
            <a:xfrm>
              <a:off x="4381500" y="4381500"/>
              <a:ext cx="3429000" cy="381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4733850" y="4514850"/>
              <a:ext cx="114300" cy="114300"/>
            </a:xfrm>
            <a:prstGeom prst="ellipse">
              <a:avLst/>
            </a:prstGeom>
            <a:solidFill>
              <a:srgbClr val="BB2E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4886250" y="4381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Linear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5686350" y="4514850"/>
              <a:ext cx="114300" cy="1143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3"/>
            <p:cNvSpPr txBox="1"/>
            <p:nvPr/>
          </p:nvSpPr>
          <p:spPr>
            <a:xfrm>
              <a:off x="5838750" y="4381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kNN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6638850" y="451485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3"/>
            <p:cNvSpPr txBox="1"/>
            <p:nvPr/>
          </p:nvSpPr>
          <p:spPr>
            <a:xfrm>
              <a:off x="6791250" y="43815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MLP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762000" y="647700"/>
            <a:ext cx="10668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Discussione del Trade-off</a:t>
            </a:r>
            <a:endParaRPr b="0" sz="3200">
              <a:solidFill>
                <a:srgbClr val="0033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44" name="Google Shape;344;p24"/>
          <p:cNvGrpSpPr/>
          <p:nvPr/>
        </p:nvGrpSpPr>
        <p:grpSpPr>
          <a:xfrm>
            <a:off x="571500" y="1524000"/>
            <a:ext cx="3429000" cy="1333500"/>
            <a:chOff x="571500" y="1524000"/>
            <a:chExt cx="3429000" cy="1333500"/>
          </a:xfrm>
        </p:grpSpPr>
        <p:sp>
          <p:nvSpPr>
            <p:cNvPr id="345" name="Google Shape;345;p24"/>
            <p:cNvSpPr/>
            <p:nvPr/>
          </p:nvSpPr>
          <p:spPr>
            <a:xfrm>
              <a:off x="571500" y="1524000"/>
              <a:ext cx="34290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4"/>
            <p:cNvSpPr txBox="1"/>
            <p:nvPr/>
          </p:nvSpPr>
          <p:spPr>
            <a:xfrm>
              <a:off x="762000" y="16668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Efficienza</a:t>
              </a:r>
              <a:endParaRPr b="1" sz="16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La regressione lineare è istantanea rispetto all'MLP.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47" name="Google Shape;347;p24"/>
          <p:cNvGrpSpPr/>
          <p:nvPr/>
        </p:nvGrpSpPr>
        <p:grpSpPr>
          <a:xfrm>
            <a:off x="571500" y="3000375"/>
            <a:ext cx="3429000" cy="1333500"/>
            <a:chOff x="571500" y="3000375"/>
            <a:chExt cx="3429000" cy="1333500"/>
          </a:xfrm>
        </p:grpSpPr>
        <p:sp>
          <p:nvSpPr>
            <p:cNvPr id="348" name="Google Shape;348;p24"/>
            <p:cNvSpPr/>
            <p:nvPr/>
          </p:nvSpPr>
          <p:spPr>
            <a:xfrm>
              <a:off x="571500" y="3000375"/>
              <a:ext cx="34290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4"/>
            <p:cNvSpPr txBox="1"/>
            <p:nvPr/>
          </p:nvSpPr>
          <p:spPr>
            <a:xfrm>
              <a:off x="762000" y="3143250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Accuratezza</a:t>
              </a:r>
              <a:endParaRPr b="1" sz="16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 modelli superano ampiamente la baseline casuale (25%).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50" name="Google Shape;350;p24"/>
          <p:cNvGrpSpPr/>
          <p:nvPr/>
        </p:nvGrpSpPr>
        <p:grpSpPr>
          <a:xfrm>
            <a:off x="571500" y="4476750"/>
            <a:ext cx="3429000" cy="1333500"/>
            <a:chOff x="571500" y="4476750"/>
            <a:chExt cx="3429000" cy="1333500"/>
          </a:xfrm>
        </p:grpSpPr>
        <p:sp>
          <p:nvSpPr>
            <p:cNvPr id="351" name="Google Shape;351;p24"/>
            <p:cNvSpPr/>
            <p:nvPr/>
          </p:nvSpPr>
          <p:spPr>
            <a:xfrm>
              <a:off x="571500" y="4476750"/>
              <a:ext cx="34290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 txBox="1"/>
            <p:nvPr/>
          </p:nvSpPr>
          <p:spPr>
            <a:xfrm>
              <a:off x="762000" y="461962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B2E29"/>
                  </a:solidFill>
                  <a:latin typeface="Poppins"/>
                  <a:ea typeface="Poppins"/>
                  <a:cs typeface="Poppins"/>
                  <a:sym typeface="Poppins"/>
                </a:rPr>
                <a:t>Quantizzazione</a:t>
              </a:r>
              <a:endParaRPr b="1" sz="1600">
                <a:solidFill>
                  <a:srgbClr val="BB2E2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4 livelli offrono la stabilità necessaria per l'hardware.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4191000" y="1524000"/>
            <a:ext cx="7429500" cy="4286400"/>
            <a:chOff x="4191000" y="1524000"/>
            <a:chExt cx="7429500" cy="4286400"/>
          </a:xfrm>
        </p:grpSpPr>
        <p:sp>
          <p:nvSpPr>
            <p:cNvPr id="354" name="Google Shape;354;p24"/>
            <p:cNvSpPr/>
            <p:nvPr/>
          </p:nvSpPr>
          <p:spPr>
            <a:xfrm>
              <a:off x="4191000" y="1524000"/>
              <a:ext cx="7429500" cy="4286400"/>
            </a:xfrm>
            <a:prstGeom prst="roundRect">
              <a:avLst>
                <a:gd fmla="val 355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4"/>
            <p:cNvSpPr txBox="1"/>
            <p:nvPr/>
          </p:nvSpPr>
          <p:spPr>
            <a:xfrm>
              <a:off x="4381500" y="1714500"/>
              <a:ext cx="704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0336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Tracking@1 vs K (Quantization Levels)</a:t>
              </a:r>
              <a:endParaRPr b="0" sz="14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pic>
          <p:nvPicPr>
            <p:cNvPr id="356" name="Google Shape;356;p24"/>
            <p:cNvPicPr preferRelativeResize="0"/>
            <p:nvPr/>
          </p:nvPicPr>
          <p:blipFill rotWithShape="1">
            <a:blip r:embed="rId3">
              <a:alphaModFix/>
            </a:blip>
            <a:srcRect b="1539" l="846" r="836" t="2298"/>
            <a:stretch/>
          </p:blipFill>
          <p:spPr>
            <a:xfrm>
              <a:off x="4381500" y="2360375"/>
              <a:ext cx="5715000" cy="3114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7" name="Google Shape;357;p24"/>
            <p:cNvGrpSpPr/>
            <p:nvPr/>
          </p:nvGrpSpPr>
          <p:grpSpPr>
            <a:xfrm>
              <a:off x="9906000" y="1905000"/>
              <a:ext cx="1524000" cy="1524000"/>
              <a:chOff x="9906000" y="1905000"/>
              <a:chExt cx="1524000" cy="1524000"/>
            </a:xfrm>
          </p:grpSpPr>
          <p:sp>
            <p:nvSpPr>
              <p:cNvPr id="358" name="Google Shape;358;p24"/>
              <p:cNvSpPr/>
              <p:nvPr/>
            </p:nvSpPr>
            <p:spPr>
              <a:xfrm>
                <a:off x="9906000" y="1905000"/>
                <a:ext cx="1524000" cy="1524000"/>
              </a:xfrm>
              <a:prstGeom prst="ellipse">
                <a:avLst/>
              </a:prstGeom>
              <a:solidFill>
                <a:srgbClr val="BB2E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4"/>
              <p:cNvSpPr txBox="1"/>
              <p:nvPr/>
            </p:nvSpPr>
            <p:spPr>
              <a:xfrm>
                <a:off x="9906000" y="1905000"/>
                <a:ext cx="1524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K=4</a:t>
                </a:r>
                <a:endParaRPr b="1" sz="36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BD5E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OTTIMALE</a:t>
                </a:r>
                <a:endParaRPr b="0" sz="10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25"/>
          <p:cNvGrpSpPr/>
          <p:nvPr/>
        </p:nvGrpSpPr>
        <p:grpSpPr>
          <a:xfrm>
            <a:off x="571500" y="1714500"/>
            <a:ext cx="5334000" cy="4000500"/>
            <a:chOff x="571500" y="1714500"/>
            <a:chExt cx="5334000" cy="4000500"/>
          </a:xfrm>
        </p:grpSpPr>
        <p:sp>
          <p:nvSpPr>
            <p:cNvPr id="365" name="Google Shape;365;p25"/>
            <p:cNvSpPr/>
            <p:nvPr/>
          </p:nvSpPr>
          <p:spPr>
            <a:xfrm>
              <a:off x="571500" y="1714500"/>
              <a:ext cx="5334000" cy="4000500"/>
            </a:xfrm>
            <a:prstGeom prst="roundRect">
              <a:avLst>
                <a:gd fmla="val 357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5"/>
            <p:cNvSpPr txBox="1"/>
            <p:nvPr/>
          </p:nvSpPr>
          <p:spPr>
            <a:xfrm>
              <a:off x="857250" y="20002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Conclusioni Principali</a:t>
              </a:r>
              <a:endParaRPr b="1" sz="18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67" name="Google Shape;367;p25"/>
            <p:cNvGrpSpPr/>
            <p:nvPr/>
          </p:nvGrpSpPr>
          <p:grpSpPr>
            <a:xfrm>
              <a:off x="1333500" y="2476500"/>
              <a:ext cx="4286400" cy="1666950"/>
              <a:chOff x="476250" y="0"/>
              <a:chExt cx="4286400" cy="1666950"/>
            </a:xfrm>
          </p:grpSpPr>
          <p:sp>
            <p:nvSpPr>
              <p:cNvPr id="368" name="Google Shape;368;p25"/>
              <p:cNvSpPr txBox="1"/>
              <p:nvPr/>
            </p:nvSpPr>
            <p:spPr>
              <a:xfrm>
                <a:off x="476250" y="0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Le IRS migliorano drasticamente la copertura indoor NLoS.</a:t>
                </a:r>
                <a:endParaRPr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25"/>
              <p:cNvSpPr txBox="1"/>
              <p:nvPr/>
            </p:nvSpPr>
            <p:spPr>
              <a:xfrm>
                <a:off x="476250" y="619125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Il Machine Learning permette un controllo real-time efficace.</a:t>
                </a:r>
                <a:endParaRPr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" name="Google Shape;370;p25"/>
              <p:cNvSpPr txBox="1"/>
              <p:nvPr/>
            </p:nvSpPr>
            <p:spPr>
              <a:xfrm>
                <a:off x="476250" y="1238250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Modelli lineari sono validi punti di partenza.</a:t>
                </a:r>
                <a:endParaRPr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71" name="Google Shape;371;p2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" name="Google Shape;372;p25"/>
          <p:cNvGrpSpPr/>
          <p:nvPr/>
        </p:nvGrpSpPr>
        <p:grpSpPr>
          <a:xfrm>
            <a:off x="6286500" y="1714500"/>
            <a:ext cx="5334000" cy="4000500"/>
            <a:chOff x="6286500" y="1714500"/>
            <a:chExt cx="5334000" cy="4000500"/>
          </a:xfrm>
        </p:grpSpPr>
        <p:sp>
          <p:nvSpPr>
            <p:cNvPr id="373" name="Google Shape;373;p25"/>
            <p:cNvSpPr/>
            <p:nvPr/>
          </p:nvSpPr>
          <p:spPr>
            <a:xfrm>
              <a:off x="6286500" y="1714500"/>
              <a:ext cx="5334000" cy="4000500"/>
            </a:xfrm>
            <a:prstGeom prst="roundRect">
              <a:avLst>
                <a:gd fmla="val 3571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5"/>
            <p:cNvSpPr txBox="1"/>
            <p:nvPr/>
          </p:nvSpPr>
          <p:spPr>
            <a:xfrm>
              <a:off x="6572250" y="20002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Prospettive Future</a:t>
              </a:r>
              <a:endParaRPr b="1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5" name="Google Shape;375;p25"/>
            <p:cNvGrpSpPr/>
            <p:nvPr/>
          </p:nvGrpSpPr>
          <p:grpSpPr>
            <a:xfrm>
              <a:off x="6572250" y="2476500"/>
              <a:ext cx="4762500" cy="1714500"/>
              <a:chOff x="0" y="0"/>
              <a:chExt cx="4762500" cy="1714500"/>
            </a:xfrm>
          </p:grpSpPr>
          <p:sp>
            <p:nvSpPr>
              <p:cNvPr id="376" name="Google Shape;376;p25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BB2E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5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01</a:t>
                </a:r>
                <a:endParaRPr b="1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8" name="Google Shape;378;p25"/>
              <p:cNvSpPr txBox="1"/>
              <p:nvPr/>
            </p:nvSpPr>
            <p:spPr>
              <a:xfrm>
                <a:off x="571500" y="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E2E8F0"/>
                    </a:solidFill>
                    <a:latin typeface="Lato"/>
                    <a:ea typeface="Lato"/>
                    <a:cs typeface="Lato"/>
                    <a:sym typeface="Lato"/>
                  </a:rPr>
                  <a:t>Scenari Multi-utente (MIMO).</a:t>
                </a:r>
                <a:endParaRPr sz="1400">
                  <a:solidFill>
                    <a:srgbClr val="E2E8F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0" y="66675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BB2E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5"/>
              <p:cNvSpPr txBox="1"/>
              <p:nvPr/>
            </p:nvSpPr>
            <p:spPr>
              <a:xfrm>
                <a:off x="0" y="66675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02</a:t>
                </a:r>
                <a:endParaRPr b="1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1" name="Google Shape;381;p25"/>
              <p:cNvSpPr txBox="1"/>
              <p:nvPr/>
            </p:nvSpPr>
            <p:spPr>
              <a:xfrm>
                <a:off x="571500" y="66675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E2E8F0"/>
                    </a:solidFill>
                    <a:latin typeface="Lato"/>
                    <a:ea typeface="Lato"/>
                    <a:cs typeface="Lato"/>
                    <a:sym typeface="Lato"/>
                  </a:rPr>
                  <a:t>Reinforcement Learning per mobilità.</a:t>
                </a:r>
                <a:endParaRPr sz="1400">
                  <a:solidFill>
                    <a:srgbClr val="E2E8F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2" name="Google Shape;382;p25"/>
              <p:cNvSpPr/>
              <p:nvPr/>
            </p:nvSpPr>
            <p:spPr>
              <a:xfrm>
                <a:off x="0" y="133350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BB2E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5"/>
              <p:cNvSpPr txBox="1"/>
              <p:nvPr/>
            </p:nvSpPr>
            <p:spPr>
              <a:xfrm>
                <a:off x="0" y="1333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03</a:t>
                </a:r>
                <a:endParaRPr b="1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4" name="Google Shape;384;p25"/>
              <p:cNvSpPr txBox="1"/>
              <p:nvPr/>
            </p:nvSpPr>
            <p:spPr>
              <a:xfrm>
                <a:off x="571500" y="133350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E2E8F0"/>
                    </a:solidFill>
                    <a:latin typeface="Lato"/>
                    <a:ea typeface="Lato"/>
                    <a:cs typeface="Lato"/>
                    <a:sym typeface="Lato"/>
                  </a:rPr>
                  <a:t>Validazione su prototipi hardware reali.</a:t>
                </a:r>
                <a:endParaRPr sz="1400">
                  <a:solidFill>
                    <a:srgbClr val="E2E8F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85" name="Google Shape;385;p25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Conclusioni e Sviluppi Futuri</a:t>
            </a:r>
            <a:endParaRPr/>
          </a:p>
        </p:txBody>
      </p:sp>
      <p:sp>
        <p:nvSpPr>
          <p:cNvPr id="386" name="Google Shape;386;p25"/>
          <p:cNvSpPr/>
          <p:nvPr/>
        </p:nvSpPr>
        <p:spPr>
          <a:xfrm>
            <a:off x="571500" y="647700"/>
            <a:ext cx="57300" cy="6000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&lt;svg xmlns=&quot;http://www.w3.org/2000/svg&quot; height=&quot;40px&quot; viewBox=&quot;0 -960 960 960&quot; width=&quot;40px&quot; fill=&quot;#bb2e29ff&quot;&gt;&lt;path d=&quot;M122-40v-169.33Q87.67-222 63.83-251.83 40-281.67 40-318v-398.67h82v-170q0-15 9.17-24.16 9.16-9.17 24.16-9.17t24.17 9.17q9.17 9.16 9.17 24.16v170h82V-318q0 36.33-23.5 66.17-23.5 29.83-58.5 42.5V-40H122Zm324.67 0v-169.33q-34.34-12.67-58.17-42.5-23.83-29.84-23.83-66.17v-398.67h82v-170q0-15 9.16-24.16Q465-920 480-920q15 0 24.17 9.17 9.16 9.16 9.16 24.16v170h82V-318q0 36.33-23.5 66.17-23.5 29.83-58.5 42.5V-40h-66.66Zm324.66 0v-169.33Q737-222 713.17-251.83q-23.84-29.84-23.84-66.17v-398.67h82v-170q0-15 9.17-24.16 9.17-9.17 24.17-9.17 15 0 24.16 9.17 9.17 9.16 9.17 24.16v170h82V-318q0 36.33-23.83 66.17Q872.33-222 838-209.33V-40h-66.67ZM106.67-650v176H204v-176h-97.33Zm324.66 0v176h97.34v-176h-97.34ZM756-650v176h97.33v-176H756ZM155.33-271.33q20.34 0 34.5-13.84Q204-299 204-318v-89.33h-97.33V-318q0 19 14.16 32.83 14.17 13.84 34.5 13.84Zm324.67 0q20.33 0 34.5-13.84Q528.67-299 528.67-318v-89.33h-97.34V-318q0 19 14.17 32.83 14.17 13.84 34.5 13.84Zm324.67 0q20.33 0 34.5-13.84Q853.33-299 853.33-318v-89.33H756V-318q0 19 14.17 32.83 14.16 13.84 34.5 13.84ZM155.33-440.67Zm324.67 0Zm324.67 0Z&quot;/&gt;&lt;/svg&gt;" id="388" name="Google Shape;38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325" y="37719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bb2e29ff&quot;&gt;&lt;path d=&quot;m402.67-187.33 255-306H484.33L518-759.67l-230.33 333h149l-34 239.34ZM320-80l40-280H160l360-520h80l-40 320h240L400-80h-80Zm153-394Z&quot;/&gt;&lt;/svg&gt;" id="389" name="Google Shape;38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325" y="314872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bb2e29ff&quot;&gt;&lt;path d=&quot;M422-297.33 704.67-580l-49.34-48.67L422-395.33l-118-118-48.67 48.66L422-297.33ZM480-80q-82.33 0-155.33-31.5-73-31.5-127.34-85.83Q143-251.67 111.5-324.67T80-480q0-83 31.5-156t85.83-127q54.34-54 127.34-85.5T480-880q83 0 156 31.5T763-763q54 54 85.5 127T880-480q0 82.33-31.5 155.33-31.5 73-85.5 127.34Q709-143 636-111.5T480-80Zm0-66.67q139.33 0 236.33-97.33t97-236q0-139.33-97-236.33t-236.33-97q-138.67 0-236 97-97.33 97-97.33 236.33 0 138.67 97.33 236 97.33 97.33 236 97.33ZM480-480Z&quot;/&gt;&lt;/svg&gt;" id="390" name="Google Shape;39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325" y="2525475"/>
            <a:ext cx="3619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5619675" y="2042250"/>
            <a:ext cx="952500" cy="57300"/>
          </a:xfrm>
          <a:prstGeom prst="rect">
            <a:avLst/>
          </a:prstGeom>
          <a:solidFill>
            <a:srgbClr val="BB2E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295200" y="238515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Grazie per l'attenzione</a:t>
            </a:r>
            <a:endParaRPr/>
          </a:p>
        </p:txBody>
      </p:sp>
      <p:sp>
        <p:nvSpPr>
          <p:cNvPr id="398" name="Google Shape;398;p26"/>
          <p:cNvSpPr txBox="1"/>
          <p:nvPr/>
        </p:nvSpPr>
        <p:spPr>
          <a:xfrm>
            <a:off x="571425" y="3718650"/>
            <a:ext cx="11049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Alessandro Rebosio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Relatore: Prof. Andrea Piroddi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Università di Bologna</a:t>
            </a:r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 Mater Studiorum - Università di Bologna</a:t>
            </a:r>
            <a:endParaRPr sz="1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